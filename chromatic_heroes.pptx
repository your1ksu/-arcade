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9057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city.jpg"/>
          <p:cNvPicPr>
            <a:picLocks noChangeAspect="1"/>
          </p:cNvPicPr>
          <p:nvPr/>
        </p:nvPicPr>
        <p:blipFill>
          <a:blip r:embed="rId3">
            <a:alphaModFix amt="6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10101A">
              <a:alpha val="80000"/>
            </a:srgbClr>
          </a:solidFill>
          <a:ln w="12700">
            <a:solidFill>
              <a:srgbClr val="10101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0101A">
              <a:alpha val="90000"/>
            </a:srgbClr>
          </a:solidFill>
          <a:ln w="12700">
            <a:solidFill>
              <a:srgbClr val="10101A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640080" y="6583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900" kern="0" spc="3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Ксюшкин </a:t>
            </a:r>
            <a:r>
              <a:rPr lang="en-US" sz="900" kern="0" spc="3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ДИПЛОМНЫЙ ПРОЕКТ </a:t>
            </a:r>
            <a:r>
              <a:rPr lang="ru-RU" sz="900" kern="0" spc="3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))</a:t>
            </a:r>
            <a:r>
              <a:rPr lang="en-US" sz="900" kern="0" spc="3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 PYTHON ARCADE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94360" y="1097280"/>
            <a:ext cx="54864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Chromatic</a:t>
            </a:r>
            <a:endParaRPr lang="en-US" sz="5800" dirty="0"/>
          </a:p>
        </p:txBody>
      </p:sp>
      <p:sp>
        <p:nvSpPr>
          <p:cNvPr id="7" name="Text 4"/>
          <p:cNvSpPr/>
          <p:nvPr/>
        </p:nvSpPr>
        <p:spPr>
          <a:xfrm>
            <a:off x="594360" y="1865376"/>
            <a:ext cx="54864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Heroes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594360" y="2724912"/>
            <a:ext cx="1828800" cy="32004"/>
          </a:xfrm>
          <a:prstGeom prst="rect">
            <a:avLst/>
          </a:prstGeom>
          <a:solidFill>
            <a:srgbClr val="F0EDE4">
              <a:alpha val="45000"/>
            </a:srgbClr>
          </a:solidFill>
          <a:ln w="12700">
            <a:solidFill>
              <a:srgbClr val="F0EDE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594360" y="28163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Canvas Awakening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souls. One rainbow. A world reborn.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391363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94360" y="44622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Героев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828800" y="391363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1828800" y="44622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Жанров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063240" y="391363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3063240" y="44622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Уровней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297680" y="3913632"/>
            <a:ext cx="1005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4297680" y="446227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paint.jpg"/>
          <p:cNvPicPr>
            <a:picLocks noChangeAspect="1"/>
          </p:cNvPicPr>
          <p:nvPr/>
        </p:nvPicPr>
        <p:blipFill>
          <a:blip r:embed="rId3">
            <a:alphaModFix amt="78000"/>
          </a:blip>
          <a:srcRect/>
          <a:stretch/>
        </p:blipFill>
        <p:spPr>
          <a:xfrm>
            <a:off x="4572000" y="0"/>
            <a:ext cx="457200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0" y="0"/>
            <a:ext cx="731520" cy="5010912"/>
          </a:xfrm>
          <a:prstGeom prst="rect">
            <a:avLst/>
          </a:prstGeom>
          <a:solidFill>
            <a:srgbClr val="10101A">
              <a:alpha val="95000"/>
            </a:srgbClr>
          </a:solidFill>
          <a:ln w="12700">
            <a:solidFill>
              <a:srgbClr val="10101A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1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Концепция и сюжет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3"/>
          <p:cNvSpPr/>
          <p:nvPr/>
        </p:nvSpPr>
        <p:spPr>
          <a:xfrm>
            <a:off x="502920" y="1152144"/>
            <a:ext cx="45720" cy="566928"/>
          </a:xfrm>
          <a:prstGeom prst="rect">
            <a:avLst/>
          </a:prstGeom>
          <a:solidFill>
            <a:srgbClr val="BE4A5E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676656" y="115214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B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ЗЛОДЕЙ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76656" y="140817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Гирус Ржавый высасывает краски из мира, превращая его в серый механический порядок.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1975104"/>
            <a:ext cx="45720" cy="56692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676656" y="197510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ЖЕРТВА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76656" y="22311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Принцесса Аква Люминара — хранительница Источника Вдохновения — заключена в Часовой Башне.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2798064"/>
            <a:ext cx="45720" cy="566928"/>
          </a:xfrm>
          <a:prstGeom prst="rect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676656" y="279806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A9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НАДЕЖДА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76656" y="305409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существ получают видение и отправляются собирать Осколки Радуги.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621024"/>
            <a:ext cx="45720" cy="566928"/>
          </a:xfrm>
          <a:prstGeom prst="rect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676656" y="362102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ТВИСТ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76656" y="38770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Принцесса — потерянная дочь Гируса. Прощение восстанавливает мир.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героев — 8 жанров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ГЕРОЙ — ОТДЕЛЬНАЯ ИСТОРИЯ И МЕХАНИКА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43000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256032" y="1143000"/>
            <a:ext cx="2011680" cy="5486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256032" y="1234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4A9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56032" y="144475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Бабл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56032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Мальчик в пузыре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185416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640080" y="2185416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32304" y="1143000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2432304" y="1143000"/>
            <a:ext cx="2011680" cy="5486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2432304" y="1234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C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II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432304" y="144475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Сэр Викс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432304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Свечной Рыцарь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816352" y="2185416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2816352" y="2185416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Свет / тень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08576" y="1143000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4608576" y="1143000"/>
            <a:ext cx="2011680" cy="54864"/>
          </a:xfrm>
          <a:prstGeom prst="rect">
            <a:avLst/>
          </a:prstGeom>
          <a:solidFill>
            <a:srgbClr val="8A5EBE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4608576" y="1234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8A5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III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08576" y="144475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Клякса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08576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Художник-бунтарь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992624" y="2185416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4992624" y="2185416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5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Шутер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84848" y="1143000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Shape 25"/>
          <p:cNvSpPr/>
          <p:nvPr/>
        </p:nvSpPr>
        <p:spPr>
          <a:xfrm>
            <a:off x="6784848" y="1143000"/>
            <a:ext cx="2011680" cy="54864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6784848" y="1234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IV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784848" y="144475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Мелисса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784848" y="1828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Королева-пчела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168896" y="2185416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7168896" y="2185416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сверху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3044952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Shape 32"/>
          <p:cNvSpPr/>
          <p:nvPr/>
        </p:nvSpPr>
        <p:spPr>
          <a:xfrm>
            <a:off x="256032" y="3044952"/>
            <a:ext cx="2011680" cy="54864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256032" y="313639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8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56032" y="334670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Мастер Kog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256032" y="3730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Инженер-предатель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4087368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Text 37"/>
          <p:cNvSpPr/>
          <p:nvPr/>
        </p:nvSpPr>
        <p:spPr>
          <a:xfrm>
            <a:off x="640080" y="40873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Головоломка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432304" y="3044952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1" name="Shape 39"/>
          <p:cNvSpPr/>
          <p:nvPr/>
        </p:nvSpPr>
        <p:spPr>
          <a:xfrm>
            <a:off x="2432304" y="3044952"/>
            <a:ext cx="2011680" cy="54864"/>
          </a:xfrm>
          <a:prstGeom prst="rect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2" name="Text 40"/>
          <p:cNvSpPr/>
          <p:nvPr/>
        </p:nvSpPr>
        <p:spPr>
          <a:xfrm>
            <a:off x="2432304" y="313639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VI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432304" y="334670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Пушинка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432304" y="3730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Облачный зайчик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816352" y="4087368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6" name="Text 44"/>
          <p:cNvSpPr/>
          <p:nvPr/>
        </p:nvSpPr>
        <p:spPr>
          <a:xfrm>
            <a:off x="2816352" y="40873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Платформер ↑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08576" y="3044952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8" name="Shape 46"/>
          <p:cNvSpPr/>
          <p:nvPr/>
        </p:nvSpPr>
        <p:spPr>
          <a:xfrm>
            <a:off x="4608576" y="3044952"/>
            <a:ext cx="2011680" cy="54864"/>
          </a:xfrm>
          <a:prstGeom prst="rect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9" name="Text 47"/>
          <p:cNvSpPr/>
          <p:nvPr/>
        </p:nvSpPr>
        <p:spPr>
          <a:xfrm>
            <a:off x="4608576" y="313639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4A9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VII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608576" y="334670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Нектария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4608576" y="3730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Пчела-разведчица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992624" y="4087368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3" name="Text 51"/>
          <p:cNvSpPr/>
          <p:nvPr/>
        </p:nvSpPr>
        <p:spPr>
          <a:xfrm>
            <a:off x="4992624" y="40873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Коллектор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784848" y="3044952"/>
            <a:ext cx="2011680" cy="173736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5" name="Shape 53"/>
          <p:cNvSpPr/>
          <p:nvPr/>
        </p:nvSpPr>
        <p:spPr>
          <a:xfrm>
            <a:off x="6784848" y="3044952"/>
            <a:ext cx="2011680" cy="54864"/>
          </a:xfrm>
          <a:prstGeom prst="rect">
            <a:avLst/>
          </a:prstGeom>
          <a:solidFill>
            <a:srgbClr val="BE4A5E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6" name="Text 54"/>
          <p:cNvSpPr/>
          <p:nvPr/>
        </p:nvSpPr>
        <p:spPr>
          <a:xfrm>
            <a:off x="6784848" y="313639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>
                <a:solidFill>
                  <a:srgbClr val="B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VIII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84848" y="334670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Шерри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784848" y="37307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Хомячиха-бегунья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168896" y="4087368"/>
            <a:ext cx="1243584" cy="256032"/>
          </a:xfrm>
          <a:prstGeom prst="rect">
            <a:avLst/>
          </a:prstGeom>
          <a:solidFill>
            <a:srgbClr val="18182A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0" name="Text 58"/>
          <p:cNvSpPr/>
          <p:nvPr/>
        </p:nvSpPr>
        <p:spPr>
          <a:xfrm>
            <a:off x="7168896" y="4087368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Раннер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bubbles.jpg"/>
          <p:cNvPicPr>
            <a:picLocks noChangeAspect="1"/>
          </p:cNvPicPr>
          <p:nvPr/>
        </p:nvPicPr>
        <p:blipFill>
          <a:blip r:embed="rId3">
            <a:alphaModFix amt="84000"/>
          </a:blip>
          <a:srcRect/>
          <a:stretch/>
        </p:blipFill>
        <p:spPr>
          <a:xfrm>
            <a:off x="0" y="0"/>
            <a:ext cx="448056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91840" y="0"/>
            <a:ext cx="1371600" cy="5010912"/>
          </a:xfrm>
          <a:prstGeom prst="rect">
            <a:avLst/>
          </a:prstGeom>
          <a:solidFill>
            <a:srgbClr val="10101A">
              <a:alpha val="95000"/>
            </a:srgbClr>
          </a:solidFill>
          <a:ln w="12700">
            <a:solidFill>
              <a:srgbClr val="10101A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1"/>
          <p:cNvSpPr/>
          <p:nvPr/>
        </p:nvSpPr>
        <p:spPr>
          <a:xfrm>
            <a:off x="274320" y="274320"/>
            <a:ext cx="804672" cy="32918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274320" y="274320"/>
            <a:ext cx="8046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54880" y="402336"/>
            <a:ext cx="4114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Бабл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4754880" y="1152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9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Мальчик в мыльном пузыре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499616"/>
            <a:ext cx="3931920" cy="32004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4754880" y="1572768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Голубой — Воздух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54880" y="18288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Ребёнок, не способный дышать серым воздухом Гируса. Мама-изобретательница создала для него защитный мыльный пузырь. Бабл проходит через три района Индустриального Города, собирая мыльную эссенцию.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54880" y="27614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54880" y="3090672"/>
            <a:ext cx="45720" cy="23774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4882896" y="3090672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Лёгкая физика — низкая гравитация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54880" y="3511296"/>
            <a:ext cx="45720" cy="23774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4882896" y="3511296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Пузырь лопается от шипов → собирай мыло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754880" y="3931920"/>
            <a:ext cx="45720" cy="23774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4882896" y="3931920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Ветер из вентиляторов сдувает героя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754880" y="4352544"/>
            <a:ext cx="45720" cy="23774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6"/>
          <p:cNvSpPr/>
          <p:nvPr/>
        </p:nvSpPr>
        <p:spPr>
          <a:xfrm>
            <a:off x="4882896" y="4352544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Частицы мыльной пены (система Emitter)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candle.jpg"/>
          <p:cNvPicPr>
            <a:picLocks noChangeAspect="1"/>
          </p:cNvPicPr>
          <p:nvPr/>
        </p:nvPicPr>
        <p:blipFill>
          <a:blip r:embed="rId3">
            <a:alphaModFix amt="84000"/>
          </a:blip>
          <a:srcRect/>
          <a:stretch/>
        </p:blipFill>
        <p:spPr>
          <a:xfrm>
            <a:off x="4663440" y="0"/>
            <a:ext cx="448056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0" y="0"/>
            <a:ext cx="822960" cy="5010912"/>
          </a:xfrm>
          <a:prstGeom prst="rect">
            <a:avLst/>
          </a:prstGeom>
          <a:solidFill>
            <a:srgbClr val="10101A">
              <a:alpha val="95000"/>
            </a:srgbClr>
          </a:solidFill>
          <a:ln w="12700">
            <a:solidFill>
              <a:srgbClr val="10101A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1"/>
          <p:cNvSpPr/>
          <p:nvPr/>
        </p:nvSpPr>
        <p:spPr>
          <a:xfrm>
            <a:off x="274320" y="274320"/>
            <a:ext cx="822960" cy="32918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274320" y="274320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ГЛ. II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402336"/>
            <a:ext cx="40233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Сэр Викс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457200" y="115214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Свечной Рыцарь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499616"/>
            <a:ext cx="3931920" cy="32004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457200" y="1572768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Оранжевый — Огонь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18288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Последний рыцарь Ордена Вечного Пламени. Доспехи из воска, в сердце — последняя свеча надежды. Спускается в Подземелье Тени (3 уровня), где Гирус прячет украденный солнечный свет.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7614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090672"/>
            <a:ext cx="45720" cy="23774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585216" y="3090672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Свеча освещает область — спрайт-круг света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3511296"/>
            <a:ext cx="45720" cy="23774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585216" y="3511296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Ветер задувает пламя → Game Over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931920"/>
            <a:ext cx="45720" cy="23774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585216" y="3931920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Собирай масло для поддержания огня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352544"/>
            <a:ext cx="45720" cy="23774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6"/>
          <p:cNvSpPr/>
          <p:nvPr/>
        </p:nvSpPr>
        <p:spPr>
          <a:xfrm>
            <a:off x="585216" y="4352544"/>
            <a:ext cx="37673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мерцающего пламени (смена текстур)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Глава III &amp; IV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КЛЯКСА — ХУДОЖНИК  ·  МЕЛИССА — ПЧЕЛА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/home/claude/imgs/graffiti.jpg"/>
          <p:cNvPicPr>
            <a:picLocks noChangeAspect="1"/>
          </p:cNvPicPr>
          <p:nvPr/>
        </p:nvPicPr>
        <p:blipFill>
          <a:blip r:embed="rId3">
            <a:alphaModFix amt="82000"/>
          </a:blip>
          <a:srcRect/>
          <a:stretch/>
        </p:blipFill>
        <p:spPr>
          <a:xfrm>
            <a:off x="256032" y="1170432"/>
            <a:ext cx="4114800" cy="16642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6032" y="1170432"/>
            <a:ext cx="4114800" cy="54864"/>
          </a:xfrm>
          <a:prstGeom prst="rect">
            <a:avLst/>
          </a:prstGeom>
          <a:solidFill>
            <a:srgbClr val="8A5EBE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Shape 5"/>
          <p:cNvSpPr/>
          <p:nvPr/>
        </p:nvSpPr>
        <p:spPr>
          <a:xfrm>
            <a:off x="256032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384048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Клякса  ·  Гл. III  ·  Шутер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84048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5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Фиолетовый (Творчество)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84048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Уличный художник штурмует три Галереи, стреляет чернилами по врагам и окрашивает серый мир, открывая скрытые платформы. Камера следует по большим залам.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3168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3" name="Image 1" descr="/home/claude/imgs/flowers.jpg"/>
          <p:cNvPicPr>
            <a:picLocks noChangeAspect="1"/>
          </p:cNvPicPr>
          <p:nvPr/>
        </p:nvPicPr>
        <p:blipFill>
          <a:blip r:embed="rId4">
            <a:alphaModFix amt="82000"/>
          </a:blip>
          <a:srcRect/>
          <a:stretch/>
        </p:blipFill>
        <p:spPr>
          <a:xfrm>
            <a:off x="4773168" y="1170432"/>
            <a:ext cx="4114800" cy="16642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773168" y="1170432"/>
            <a:ext cx="4114800" cy="54864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1"/>
          <p:cNvSpPr/>
          <p:nvPr/>
        </p:nvSpPr>
        <p:spPr>
          <a:xfrm>
            <a:off x="4773168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2"/>
          <p:cNvSpPr/>
          <p:nvPr/>
        </p:nvSpPr>
        <p:spPr>
          <a:xfrm>
            <a:off x="4901184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Мелисса  ·  Гл. IV  ·  Вид сверху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01184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Жёлтый (Жизнь)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901184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Королева последнего свободного улья защищает три цветочных поля от механических ос. Сбор нектара с ограниченной вместимостью, возврат в улей.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Глава V &amp; VI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КОG — ИНЖЕНЕР  ·  ПУШИНКА — ЗАЙЧИК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/home/claude/imgs/gears.jpg"/>
          <p:cNvPicPr>
            <a:picLocks noChangeAspect="1"/>
          </p:cNvPicPr>
          <p:nvPr/>
        </p:nvPicPr>
        <p:blipFill>
          <a:blip r:embed="rId3">
            <a:alphaModFix amt="82000"/>
          </a:blip>
          <a:srcRect/>
          <a:stretch/>
        </p:blipFill>
        <p:spPr>
          <a:xfrm>
            <a:off x="256032" y="1170432"/>
            <a:ext cx="4114800" cy="16642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6032" y="1170432"/>
            <a:ext cx="4114800" cy="54864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Shape 5"/>
          <p:cNvSpPr/>
          <p:nvPr/>
        </p:nvSpPr>
        <p:spPr>
          <a:xfrm>
            <a:off x="256032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384048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Мастер Kog  ·  Гл. V  ·  Головоломка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84048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Серебряный (Порядок)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84048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Бывший инженер Гируса саботирует три Цитадели. Расставляй шестерёнки так, чтобы механизм сломался. Перетаскивание мышью, коллизии сцепления, частицы искр.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3168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3" name="Image 1" descr="/home/claude/imgs/clouds.jpg"/>
          <p:cNvPicPr>
            <a:picLocks noChangeAspect="1"/>
          </p:cNvPicPr>
          <p:nvPr/>
        </p:nvPicPr>
        <p:blipFill>
          <a:blip r:embed="rId4">
            <a:alphaModFix amt="82000"/>
          </a:blip>
          <a:srcRect/>
          <a:stretch/>
        </p:blipFill>
        <p:spPr>
          <a:xfrm>
            <a:off x="4773168" y="1170432"/>
            <a:ext cx="4114800" cy="16642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773168" y="1170432"/>
            <a:ext cx="4114800" cy="54864"/>
          </a:xfrm>
          <a:prstGeom prst="rect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1"/>
          <p:cNvSpPr/>
          <p:nvPr/>
        </p:nvSpPr>
        <p:spPr>
          <a:xfrm>
            <a:off x="4773168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2"/>
          <p:cNvSpPr/>
          <p:nvPr/>
        </p:nvSpPr>
        <p:spPr>
          <a:xfrm>
            <a:off x="4901184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Пушинка  ·  Гл. VI  ·  Платформер ↑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01184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Белый (Надежда)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901184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Зайчонок прыгает по трём ярусам неба — от низких облаков до грозовых. Движущиеся платформы, двойной прыжок с частицами радуги, камера уходит вверх.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Глава VII &amp; VIII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НЕКТАРИЯ — РАЗВЕДЧИЦА  ·  ШЕРРИ — ХОМЯЧИХА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6" name="Image 0" descr="/home/claude/imgs/flowers.jpg"/>
          <p:cNvPicPr>
            <a:picLocks noChangeAspect="1"/>
          </p:cNvPicPr>
          <p:nvPr/>
        </p:nvPicPr>
        <p:blipFill>
          <a:blip r:embed="rId3">
            <a:alphaModFix amt="82000"/>
          </a:blip>
          <a:srcRect/>
          <a:stretch/>
        </p:blipFill>
        <p:spPr>
          <a:xfrm>
            <a:off x="256032" y="1170432"/>
            <a:ext cx="4114800" cy="16642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56032" y="1170432"/>
            <a:ext cx="4114800" cy="54864"/>
          </a:xfrm>
          <a:prstGeom prst="rect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Shape 5"/>
          <p:cNvSpPr/>
          <p:nvPr/>
        </p:nvSpPr>
        <p:spPr>
          <a:xfrm>
            <a:off x="256032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384048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Нектария  ·  Гл. VII  ·  Коллектор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84048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9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Зелёный (Рост)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84048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Младшая сестра Мелиссы ищет три Тайных Луга (берёза, подсолнух, лаванда). Огромная карта, сбор нектара с возвратом в улей, частицы пыльцы.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3168" y="1170432"/>
            <a:ext cx="4114800" cy="362102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pic>
        <p:nvPicPr>
          <p:cNvPr id="13" name="Image 1" descr="/home/claude/imgs/lab.jpg"/>
          <p:cNvPicPr>
            <a:picLocks noChangeAspect="1"/>
          </p:cNvPicPr>
          <p:nvPr/>
        </p:nvPicPr>
        <p:blipFill>
          <a:blip r:embed="rId4">
            <a:alphaModFix amt="82000"/>
          </a:blip>
          <a:srcRect/>
          <a:stretch/>
        </p:blipFill>
        <p:spPr>
          <a:xfrm>
            <a:off x="4773168" y="1170432"/>
            <a:ext cx="4114800" cy="16642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773168" y="1170432"/>
            <a:ext cx="4114800" cy="54864"/>
          </a:xfrm>
          <a:prstGeom prst="rect">
            <a:avLst/>
          </a:prstGeom>
          <a:solidFill>
            <a:srgbClr val="BE4A5E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1"/>
          <p:cNvSpPr/>
          <p:nvPr/>
        </p:nvSpPr>
        <p:spPr>
          <a:xfrm>
            <a:off x="4773168" y="2615184"/>
            <a:ext cx="4114800" cy="402336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1E1E32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2"/>
          <p:cNvSpPr/>
          <p:nvPr/>
        </p:nvSpPr>
        <p:spPr>
          <a:xfrm>
            <a:off x="4901184" y="2926080"/>
            <a:ext cx="3858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Шерри  ·  Гл. VIII  ·  Раннер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01184" y="3236976"/>
            <a:ext cx="3858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Осколок: Красный (Свобода)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901184" y="3493008"/>
            <a:ext cx="385876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Лабораторный хомячок, освобождённый Баблом. Бежит через три секции Лаборатории. Препятствия и скорость нарастают, финальный саботаж системы.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castle.jp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010912"/>
          </a:xfrm>
          <a:prstGeom prst="rect">
            <a:avLst/>
          </a:prstGeom>
          <a:solidFill>
            <a:srgbClr val="10101A">
              <a:alpha val="80000"/>
            </a:srgbClr>
          </a:solidFill>
          <a:ln w="12700">
            <a:solidFill>
              <a:srgbClr val="10101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1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Финальная глава — Симфония Цвета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3"/>
          <p:cNvSpPr/>
          <p:nvPr/>
        </p:nvSpPr>
        <p:spPr>
          <a:xfrm>
            <a:off x="256032" y="1170432"/>
            <a:ext cx="1609344" cy="2487168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256032" y="1261872"/>
            <a:ext cx="16093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E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56032" y="1755648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Платформер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56032" y="2103120"/>
            <a:ext cx="1609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Викс + Бабл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Подъём по башне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011680" y="1170432"/>
            <a:ext cx="1609344" cy="2487168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2011680" y="1261872"/>
            <a:ext cx="16093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A5E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2011680" y="1755648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Шутер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011680" y="2103120"/>
            <a:ext cx="1609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Клякса + Мелисса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Отбитие стражей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767328" y="1170432"/>
            <a:ext cx="1609344" cy="2487168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3767328" y="1261872"/>
            <a:ext cx="16093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090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3767328" y="1755648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Головоломка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767328" y="2103120"/>
            <a:ext cx="1609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Kog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Взлом механизма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22976" y="1170432"/>
            <a:ext cx="1609344" cy="2487168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6"/>
          <p:cNvSpPr/>
          <p:nvPr/>
        </p:nvSpPr>
        <p:spPr>
          <a:xfrm>
            <a:off x="5522976" y="1261872"/>
            <a:ext cx="16093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E4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5522976" y="1755648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Раннер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522976" y="2103120"/>
            <a:ext cx="1609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Шерри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Побег из башни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278624" y="1170432"/>
            <a:ext cx="1609344" cy="2487168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0"/>
          <p:cNvSpPr/>
          <p:nvPr/>
        </p:nvSpPr>
        <p:spPr>
          <a:xfrm>
            <a:off x="7278624" y="1261872"/>
            <a:ext cx="16093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7278624" y="1755648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Финал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278624" y="2103120"/>
            <a:ext cx="1609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Пушинка + Нект.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Освобождение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56032" y="3840480"/>
            <a:ext cx="8631936" cy="914400"/>
          </a:xfrm>
          <a:prstGeom prst="rect">
            <a:avLst/>
          </a:prstGeom>
          <a:solidFill>
            <a:srgbClr val="1E1E32">
              <a:alpha val="88000"/>
            </a:srgbClr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4"/>
          <p:cNvSpPr/>
          <p:nvPr/>
        </p:nvSpPr>
        <p:spPr>
          <a:xfrm>
            <a:off x="384048" y="3913632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E4A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БОСС: Гирус Ржавый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2743200" y="3913632"/>
            <a:ext cx="5943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Гирус сливается с Часовой Башней. Игрок переключается между всеми 8 героями. Финал: Принцесса прощает отца — мир обретает краски.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nature.jpg"/>
          <p:cNvPicPr>
            <a:picLocks noChangeAspect="1"/>
          </p:cNvPicPr>
          <p:nvPr/>
        </p:nvPicPr>
        <p:blipFill>
          <a:blip r:embed="rId3">
            <a:alphaModFix amt="32000"/>
          </a:blip>
          <a:srcRect/>
          <a:stretch/>
        </p:blipFill>
        <p:spPr>
          <a:xfrm>
            <a:off x="0" y="0"/>
            <a:ext cx="9144000" cy="5010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Актуальность — темы игры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СОЦИАЛЬНЫХ МЕТАФОР В ОДНОЙ ИСТОРИИ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3"/>
          <p:cNvSpPr/>
          <p:nvPr/>
        </p:nvSpPr>
        <p:spPr>
          <a:xfrm>
            <a:off x="256032" y="1170432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Shape 4"/>
          <p:cNvSpPr/>
          <p:nvPr/>
        </p:nvSpPr>
        <p:spPr>
          <a:xfrm>
            <a:off x="256032" y="1170432"/>
            <a:ext cx="2011680" cy="5486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365760" y="129844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Ментальное здоровье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65760" y="1682496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Бабл — тревожность и защитный пузырь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432304" y="1170432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8"/>
          <p:cNvSpPr/>
          <p:nvPr/>
        </p:nvSpPr>
        <p:spPr>
          <a:xfrm>
            <a:off x="2432304" y="1170432"/>
            <a:ext cx="2011680" cy="5486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2542032" y="129844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Выгорание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542032" y="1682496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Викс — последний носитель смысла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608576" y="1170432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2"/>
          <p:cNvSpPr/>
          <p:nvPr/>
        </p:nvSpPr>
        <p:spPr>
          <a:xfrm>
            <a:off x="4608576" y="1170432"/>
            <a:ext cx="2011680" cy="54864"/>
          </a:xfrm>
          <a:prstGeom prst="rect">
            <a:avLst/>
          </a:prstGeom>
          <a:solidFill>
            <a:srgbClr val="8A5EBE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4718304" y="129844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Свобода творчества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718304" y="1682496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Клякса — искусство как акт сопротивления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784848" y="1170432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6"/>
          <p:cNvSpPr/>
          <p:nvPr/>
        </p:nvSpPr>
        <p:spPr>
          <a:xfrm>
            <a:off x="6784848" y="1170432"/>
            <a:ext cx="2011680" cy="54864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7"/>
          <p:cNvSpPr/>
          <p:nvPr/>
        </p:nvSpPr>
        <p:spPr>
          <a:xfrm>
            <a:off x="6894576" y="1298448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Экологический кризис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94576" y="1682496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Мелисса, Нектария — вымирание пчёл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56032" y="2962656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0"/>
          <p:cNvSpPr/>
          <p:nvPr/>
        </p:nvSpPr>
        <p:spPr>
          <a:xfrm>
            <a:off x="256032" y="2962656"/>
            <a:ext cx="2011680" cy="54864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1"/>
          <p:cNvSpPr/>
          <p:nvPr/>
        </p:nvSpPr>
        <p:spPr>
          <a:xfrm>
            <a:off x="365760" y="3090672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Этика технологий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365760" y="3474720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 — ответственность создателя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432304" y="2962656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Shape 24"/>
          <p:cNvSpPr/>
          <p:nvPr/>
        </p:nvSpPr>
        <p:spPr>
          <a:xfrm>
            <a:off x="2432304" y="2962656"/>
            <a:ext cx="2011680" cy="54864"/>
          </a:xfrm>
          <a:prstGeom prst="rect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5"/>
          <p:cNvSpPr/>
          <p:nvPr/>
        </p:nvSpPr>
        <p:spPr>
          <a:xfrm>
            <a:off x="2542032" y="3090672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Надежда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2542032" y="3474720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Пушинка — оптимизм сквозь серость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608576" y="2962656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8"/>
          <p:cNvSpPr/>
          <p:nvPr/>
        </p:nvSpPr>
        <p:spPr>
          <a:xfrm>
            <a:off x="4608576" y="2962656"/>
            <a:ext cx="2011680" cy="54864"/>
          </a:xfrm>
          <a:prstGeom prst="rect">
            <a:avLst/>
          </a:prstGeom>
          <a:solidFill>
            <a:srgbClr val="BE4A5E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29"/>
          <p:cNvSpPr/>
          <p:nvPr/>
        </p:nvSpPr>
        <p:spPr>
          <a:xfrm>
            <a:off x="4718304" y="3090672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Права животных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718304" y="3474720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Шерри — лабораторные испытания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784848" y="2962656"/>
            <a:ext cx="2011680" cy="1609344"/>
          </a:xfrm>
          <a:prstGeom prst="rect">
            <a:avLst/>
          </a:prstGeom>
          <a:solidFill>
            <a:srgbClr val="1E1E32">
              <a:alpha val="90000"/>
            </a:srgbClr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Shape 32"/>
          <p:cNvSpPr/>
          <p:nvPr/>
        </p:nvSpPr>
        <p:spPr>
          <a:xfrm>
            <a:off x="6784848" y="2962656"/>
            <a:ext cx="2011680" cy="54864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3"/>
          <p:cNvSpPr/>
          <p:nvPr/>
        </p:nvSpPr>
        <p:spPr>
          <a:xfrm>
            <a:off x="6894576" y="3090672"/>
            <a:ext cx="17922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Прощение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894576" y="3474720"/>
            <a:ext cx="179222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Гирус и Принцесса — травма разорванной семьи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Применённые технологии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FRAMEWORK  ·  ВСЕ ТРЕБОВАНИЯ МОДУЛЯ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256032" y="1170432"/>
            <a:ext cx="54864" cy="78638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420624" y="12618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Стартовое / финальное окно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" y="15910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arcade.View — меню, пауза, Game Over, победа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18304" y="11704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4718304" y="1170432"/>
            <a:ext cx="54864" cy="786384"/>
          </a:xfrm>
          <a:prstGeom prst="rect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4882896" y="12618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Спрайты и анимация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82896" y="15910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arcade.Sprite + update_animation() + walk_textures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" y="20848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256032" y="2084832"/>
            <a:ext cx="54864" cy="786384"/>
          </a:xfrm>
          <a:prstGeom prst="rect">
            <a:avLst/>
          </a:prstGeom>
          <a:solidFill>
            <a:srgbClr val="8A5EBE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420624" y="21762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Коллизии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0624" y="25054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check_for_collision_with_list() — атаки и сбор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18304" y="20848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4718304" y="2084832"/>
            <a:ext cx="54864" cy="786384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4882896" y="21762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Физический движок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82896" y="25054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PhysicsEnginePlatformer + PhysicsEngineSimple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032" y="29992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Shape 20"/>
          <p:cNvSpPr/>
          <p:nvPr/>
        </p:nvSpPr>
        <p:spPr>
          <a:xfrm>
            <a:off x="256032" y="2999232"/>
            <a:ext cx="54864" cy="786384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420624" y="30906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Камера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0624" y="34198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Camera2D, lerp_2d, dead zone, ScreenShake2D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18304" y="29992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4718304" y="2999232"/>
            <a:ext cx="54864" cy="786384"/>
          </a:xfrm>
          <a:prstGeom prst="rect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4882896" y="30906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частиц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82896" y="34198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Emitter, EmitBurst, FadeParticle, mutation_callback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6032" y="39136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Shape 28"/>
          <p:cNvSpPr/>
          <p:nvPr/>
        </p:nvSpPr>
        <p:spPr>
          <a:xfrm>
            <a:off x="256032" y="3913632"/>
            <a:ext cx="54864" cy="786384"/>
          </a:xfrm>
          <a:prstGeom prst="rect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29"/>
          <p:cNvSpPr/>
          <p:nvPr/>
        </p:nvSpPr>
        <p:spPr>
          <a:xfrm>
            <a:off x="420624" y="40050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Звук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0624" y="43342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arcade.load_sound() + arcade.play_sound()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18304" y="3913632"/>
            <a:ext cx="4279392" cy="786384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Shape 32"/>
          <p:cNvSpPr/>
          <p:nvPr/>
        </p:nvSpPr>
        <p:spPr>
          <a:xfrm>
            <a:off x="4718304" y="3913632"/>
            <a:ext cx="54864" cy="786384"/>
          </a:xfrm>
          <a:prstGeom prst="rect">
            <a:avLst/>
          </a:prstGeom>
          <a:solidFill>
            <a:srgbClr val="BE4A5E"/>
          </a:solidFill>
          <a:ln w="12700">
            <a:solidFill>
              <a:srgbClr val="BE4A5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4882896" y="4005072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данных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82896" y="4334256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для уровней  ·  txt для прогресса  ·  БД (рекорды)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Качество и структура кода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 8  ·  ООП  ·  МОДУЛИ  ·  500+ СТРОК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2743200" cy="365760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4"/>
          <p:cNvSpPr/>
          <p:nvPr/>
        </p:nvSpPr>
        <p:spPr>
          <a:xfrm>
            <a:off x="256032" y="1170432"/>
            <a:ext cx="2743200" cy="54864"/>
          </a:xfrm>
          <a:prstGeom prst="rect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420624" y="1298448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9E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Стандарты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0624" y="1682496"/>
            <a:ext cx="2304288" cy="32004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457200" y="1810512"/>
            <a:ext cx="109728" cy="109728"/>
          </a:xfrm>
          <a:prstGeom prst="ellipse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658368" y="1755648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 8 — форматирование и отступы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670048"/>
            <a:ext cx="109728" cy="109728"/>
          </a:xfrm>
          <a:prstGeom prst="ellipse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58368" y="2615184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Именованные константы, без "магических чисел"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529584"/>
            <a:ext cx="109728" cy="109728"/>
          </a:xfrm>
          <a:prstGeom prst="ellipse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58368" y="3474720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для зависимостей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109728" cy="109728"/>
          </a:xfrm>
          <a:prstGeom prst="ellipse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658368" y="4334256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copy-paste кода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63824" y="1170432"/>
            <a:ext cx="2743200" cy="365760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3163824" y="1170432"/>
            <a:ext cx="2743200" cy="54864"/>
          </a:xfrm>
          <a:prstGeom prst="rect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3328416" y="1298448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9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28416" y="1682496"/>
            <a:ext cx="2304288" cy="32004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3364992" y="1810512"/>
            <a:ext cx="109728" cy="109728"/>
          </a:xfrm>
          <a:prstGeom prst="ellipse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3566160" y="1755648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Классы-наследники arcade.Sprite для каждого героя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64992" y="2670048"/>
            <a:ext cx="109728" cy="109728"/>
          </a:xfrm>
          <a:prstGeom prst="ellipse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3566160" y="2615184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arcade.View для каждого экрана игры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64992" y="3529584"/>
            <a:ext cx="109728" cy="109728"/>
          </a:xfrm>
          <a:prstGeom prst="ellipse">
            <a:avLst/>
          </a:prstGeom>
          <a:solidFill>
            <a:srgbClr val="4A9E7A"/>
          </a:solidFill>
          <a:ln w="12700">
            <a:solidFill>
              <a:srgbClr val="4A9E7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3566160" y="3474720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Разделение: hero, ui, level, data, particles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170432"/>
            <a:ext cx="2743200" cy="3657600"/>
          </a:xfrm>
          <a:prstGeom prst="rect">
            <a:avLst/>
          </a:prstGeom>
          <a:solidFill>
            <a:srgbClr val="1E1E32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Shape 26"/>
          <p:cNvSpPr/>
          <p:nvPr/>
        </p:nvSpPr>
        <p:spPr>
          <a:xfrm>
            <a:off x="6071616" y="1170432"/>
            <a:ext cx="2743200" cy="54864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6236208" y="1298448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96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Именование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236208" y="1682496"/>
            <a:ext cx="2304288" cy="32004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9"/>
          <p:cNvSpPr/>
          <p:nvPr/>
        </p:nvSpPr>
        <p:spPr>
          <a:xfrm>
            <a:off x="6272784" y="1810512"/>
            <a:ext cx="109728" cy="109728"/>
          </a:xfrm>
          <a:prstGeom prst="ellipse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6473952" y="1755648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player_sprite, wall_list, physics_engine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72784" y="2670048"/>
            <a:ext cx="109728" cy="109728"/>
          </a:xfrm>
          <a:prstGeom prst="ellipse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6473952" y="2615184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update_animation(), can_jump(), spawn_enemy()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72784" y="3529584"/>
            <a:ext cx="109728" cy="109728"/>
          </a:xfrm>
          <a:prstGeom prst="ellipse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4"/>
          <p:cNvSpPr/>
          <p:nvPr/>
        </p:nvSpPr>
        <p:spPr>
          <a:xfrm>
            <a:off x="6473952" y="3474720"/>
            <a:ext cx="2286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для направлений: FaceDirection.LEFT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56032" y="4681728"/>
            <a:ext cx="8631936" cy="219456"/>
          </a:xfrm>
          <a:prstGeom prst="rect">
            <a:avLst/>
          </a:prstGeom>
          <a:solidFill>
            <a:srgbClr val="18182A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8" name="Text 36"/>
          <p:cNvSpPr/>
          <p:nvPr/>
        </p:nvSpPr>
        <p:spPr>
          <a:xfrm>
            <a:off x="256032" y="4681728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строк  ·  Без copy-paste  ·  Говорящие имена  ·  Классы и модули  ·  ООП-подход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clock.jpg"/>
          <p:cNvPicPr>
            <a:picLocks noChangeAspect="1"/>
          </p:cNvPicPr>
          <p:nvPr/>
        </p:nvPicPr>
        <p:blipFill>
          <a:blip r:embed="rId3">
            <a:alphaModFix amt="48000"/>
          </a:blip>
          <a:srcRect/>
          <a:stretch/>
        </p:blipFill>
        <p:spPr>
          <a:xfrm>
            <a:off x="4846320" y="0"/>
            <a:ext cx="429768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0" y="0"/>
            <a:ext cx="640080" cy="5010912"/>
          </a:xfrm>
          <a:prstGeom prst="rect">
            <a:avLst/>
          </a:prstGeom>
          <a:solidFill>
            <a:srgbClr val="10101A">
              <a:alpha val="95000"/>
            </a:srgbClr>
          </a:solidFill>
          <a:ln w="12700">
            <a:solidFill>
              <a:srgbClr val="10101A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1"/>
          <p:cNvSpPr/>
          <p:nvPr/>
        </p:nvSpPr>
        <p:spPr>
          <a:xfrm>
            <a:off x="50292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Этапы реализации проекта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02920" y="6400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ЯНВАРЬ — ФЕВРАЛЬ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932688"/>
            <a:ext cx="822960" cy="36576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Shape 4"/>
          <p:cNvSpPr/>
          <p:nvPr/>
        </p:nvSpPr>
        <p:spPr>
          <a:xfrm>
            <a:off x="274320" y="1234440"/>
            <a:ext cx="274320" cy="274320"/>
          </a:xfrm>
          <a:prstGeom prst="ellipse">
            <a:avLst/>
          </a:prstGeom>
          <a:solidFill>
            <a:srgbClr val="4A9EBE"/>
          </a:solidFill>
          <a:ln w="12700">
            <a:solidFill>
              <a:srgbClr val="4A9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274320" y="12344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7764" y="1508760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694944" y="1234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проекта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840480" y="12344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10.01.2026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4320" y="1764792"/>
            <a:ext cx="274320" cy="274320"/>
          </a:xfrm>
          <a:prstGeom prst="ellipse">
            <a:avLst/>
          </a:prstGeom>
          <a:solidFill>
            <a:srgbClr val="C07A3A"/>
          </a:solidFill>
          <a:ln w="12700">
            <a:solidFill>
              <a:srgbClr val="C07A3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274320" y="17647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97764" y="2039112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694944" y="17647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(ТЗ)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384048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15.01.2026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" y="2295144"/>
            <a:ext cx="274320" cy="274320"/>
          </a:xfrm>
          <a:prstGeom prst="ellipse">
            <a:avLst/>
          </a:prstGeom>
          <a:solidFill>
            <a:srgbClr val="8A5EBE"/>
          </a:solidFill>
          <a:ln w="12700">
            <a:solidFill>
              <a:srgbClr val="8A5EB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27432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97764" y="2569464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7"/>
          <p:cNvSpPr/>
          <p:nvPr/>
        </p:nvSpPr>
        <p:spPr>
          <a:xfrm>
            <a:off x="694944" y="229514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+ Часть задания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840480" y="22951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5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24.01.2026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74320" y="2825496"/>
            <a:ext cx="274320" cy="274320"/>
          </a:xfrm>
          <a:prstGeom prst="ellipse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0"/>
          <p:cNvSpPr/>
          <p:nvPr/>
        </p:nvSpPr>
        <p:spPr>
          <a:xfrm>
            <a:off x="274320" y="28254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97764" y="3099816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2"/>
          <p:cNvSpPr/>
          <p:nvPr/>
        </p:nvSpPr>
        <p:spPr>
          <a:xfrm>
            <a:off x="694944" y="28254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+ Работающая часть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3840480" y="282549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01.02.2026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74320" y="3355848"/>
            <a:ext cx="274320" cy="274320"/>
          </a:xfrm>
          <a:prstGeom prst="ellipse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5"/>
          <p:cNvSpPr/>
          <p:nvPr/>
        </p:nvSpPr>
        <p:spPr>
          <a:xfrm>
            <a:off x="274320" y="33558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97764" y="3630168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7"/>
          <p:cNvSpPr/>
          <p:nvPr/>
        </p:nvSpPr>
        <p:spPr>
          <a:xfrm>
            <a:off x="694944" y="335584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+ Черновик записки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840480" y="335584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09.02.2026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4320" y="3886200"/>
            <a:ext cx="274320" cy="274320"/>
          </a:xfrm>
          <a:prstGeom prst="ellipse">
            <a:avLst/>
          </a:prstGeom>
          <a:solidFill>
            <a:srgbClr val="C8C8D8"/>
          </a:solidFill>
          <a:ln w="12700">
            <a:solidFill>
              <a:srgbClr val="C8C8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0"/>
          <p:cNvSpPr/>
          <p:nvPr/>
        </p:nvSpPr>
        <p:spPr>
          <a:xfrm>
            <a:off x="274320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97764" y="4160520"/>
            <a:ext cx="27432" cy="256032"/>
          </a:xfrm>
          <a:prstGeom prst="rect">
            <a:avLst/>
          </a:prstGeom>
          <a:solidFill>
            <a:srgbClr val="2A2A40"/>
          </a:solidFill>
          <a:ln w="12700">
            <a:solidFill>
              <a:srgbClr val="2A2A4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2"/>
          <p:cNvSpPr/>
          <p:nvPr/>
        </p:nvSpPr>
        <p:spPr>
          <a:xfrm>
            <a:off x="694944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Записка + Презентация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3840480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16.02.2026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74320" y="4416552"/>
            <a:ext cx="274320" cy="274320"/>
          </a:xfrm>
          <a:prstGeom prst="ellipse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8" name="Text 35"/>
          <p:cNvSpPr/>
          <p:nvPr/>
        </p:nvSpPr>
        <p:spPr>
          <a:xfrm>
            <a:off x="274320" y="44165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94944" y="441655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готово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3840480" y="44165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24.02.2026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mgs/rainbow.jpg"/>
          <p:cNvPicPr>
            <a:picLocks noChangeAspect="1"/>
          </p:cNvPicPr>
          <p:nvPr/>
        </p:nvPicPr>
        <p:blipFill>
          <a:blip r:embed="rId3">
            <a:alphaModFix amt="58000"/>
          </a:blip>
          <a:srcRect/>
          <a:stretch/>
        </p:blipFill>
        <p:spPr>
          <a:xfrm>
            <a:off x="0" y="0"/>
            <a:ext cx="9144000" cy="501091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010912"/>
          </a:xfrm>
          <a:prstGeom prst="rect">
            <a:avLst/>
          </a:prstGeom>
          <a:solidFill>
            <a:srgbClr val="10101A">
              <a:alpha val="78000"/>
            </a:srgbClr>
          </a:solidFill>
          <a:ln w="12700">
            <a:solidFill>
              <a:srgbClr val="10101A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1"/>
          <p:cNvSpPr/>
          <p:nvPr/>
        </p:nvSpPr>
        <p:spPr>
          <a:xfrm>
            <a:off x="731520" y="713232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i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«Мир не должен быть серым или слишком ярким.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731520" y="1243584"/>
            <a:ext cx="7680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300" i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Он прекрасен в балансе.»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3108960" y="1901952"/>
            <a:ext cx="2926080" cy="36576"/>
          </a:xfrm>
          <a:prstGeom prst="rect">
            <a:avLst/>
          </a:prstGeom>
          <a:solidFill>
            <a:srgbClr val="C8A94A">
              <a:alpha val="65000"/>
            </a:srgbClr>
          </a:solidFill>
          <a:ln w="12700">
            <a:solidFill>
              <a:srgbClr val="C8A94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457200" y="2084832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0ED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Chromatic Heroes: The Canvas Awakening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234440" y="2907792"/>
            <a:ext cx="1426464" cy="1444752"/>
          </a:xfrm>
          <a:prstGeom prst="rect">
            <a:avLst/>
          </a:prstGeom>
          <a:solidFill>
            <a:srgbClr val="1E1E32">
              <a:alpha val="84000"/>
            </a:srgbClr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1234440" y="2999232"/>
            <a:ext cx="14264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234440" y="3639312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Героев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971800" y="2907792"/>
            <a:ext cx="1426464" cy="1444752"/>
          </a:xfrm>
          <a:prstGeom prst="rect">
            <a:avLst/>
          </a:prstGeom>
          <a:solidFill>
            <a:srgbClr val="1E1E32">
              <a:alpha val="84000"/>
            </a:srgbClr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2971800" y="2999232"/>
            <a:ext cx="14264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971800" y="3639312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Уровней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2907792"/>
            <a:ext cx="1426464" cy="1444752"/>
          </a:xfrm>
          <a:prstGeom prst="rect">
            <a:avLst/>
          </a:prstGeom>
          <a:solidFill>
            <a:srgbClr val="1E1E32">
              <a:alpha val="84000"/>
            </a:srgbClr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4709160" y="2999232"/>
            <a:ext cx="14264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500+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709160" y="3639312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2907792"/>
            <a:ext cx="1426464" cy="1444752"/>
          </a:xfrm>
          <a:prstGeom prst="rect">
            <a:avLst/>
          </a:prstGeom>
          <a:solidFill>
            <a:srgbClr val="1E1E32">
              <a:alpha val="84000"/>
            </a:srgbClr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6446520" y="2999232"/>
            <a:ext cx="14264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8A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6446520" y="3639312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F0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Жанров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5010912"/>
            <a:ext cx="9144000" cy="132588"/>
          </a:xfrm>
          <a:prstGeom prst="rect">
            <a:avLst/>
          </a:prstGeom>
          <a:solidFill>
            <a:srgbClr val="C8A94A"/>
          </a:solidFill>
          <a:ln w="12700">
            <a:solidFill>
              <a:srgbClr val="C8A94A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989</Words>
  <Application>Microsoft Office PowerPoint</Application>
  <PresentationFormat>Экран (16:9)</PresentationFormat>
  <Paragraphs>223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Windows 11</cp:lastModifiedBy>
  <cp:revision>2</cp:revision>
  <dcterms:created xsi:type="dcterms:W3CDTF">2026-03-17T19:21:51Z</dcterms:created>
  <dcterms:modified xsi:type="dcterms:W3CDTF">2026-03-17T19:27:22Z</dcterms:modified>
</cp:coreProperties>
</file>