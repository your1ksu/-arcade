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925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1097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1097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1097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10972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109728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109728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43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000" kern="0" spc="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Сигалаева Ксения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1124712"/>
            <a:ext cx="8595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Chromatic Heroes</a:t>
            </a:r>
            <a:endParaRPr lang="en-US" sz="6200" dirty="0"/>
          </a:p>
        </p:txBody>
      </p:sp>
      <p:sp>
        <p:nvSpPr>
          <p:cNvPr id="13" name="Shape 11"/>
          <p:cNvSpPr/>
          <p:nvPr/>
        </p:nvSpPr>
        <p:spPr>
          <a:xfrm>
            <a:off x="2286000" y="2450592"/>
            <a:ext cx="4572000" cy="530352"/>
          </a:xfrm>
          <a:prstGeom prst="rect">
            <a:avLst/>
          </a:prstGeom>
          <a:solidFill>
            <a:srgbClr val="1E1E40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45059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souls. One rainbow. A world reborn.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06040" y="3200400"/>
            <a:ext cx="338328" cy="33832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27248" y="3200400"/>
            <a:ext cx="338328" cy="33832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8456" y="3200400"/>
            <a:ext cx="338328" cy="3383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9664" y="3200400"/>
            <a:ext cx="338328" cy="3383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90872" y="3200400"/>
            <a:ext cx="338328" cy="3383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3200400"/>
            <a:ext cx="338328" cy="33832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33288" y="3200400"/>
            <a:ext cx="338328" cy="338328"/>
          </a:xfrm>
          <a:prstGeom prst="ellipse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54496" y="3200400"/>
            <a:ext cx="338328" cy="338328"/>
          </a:xfrm>
          <a:prstGeom prst="ellipse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уникальных героев  •  8 игровых жанров  •  24 уровня  •  Финальный босс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F30949F-1F58-9BFD-BAD3-85691A6544A0}"/>
              </a:ext>
            </a:extLst>
          </p:cNvPr>
          <p:cNvSpPr/>
          <p:nvPr/>
        </p:nvSpPr>
        <p:spPr>
          <a:xfrm>
            <a:off x="1033272" y="436168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Arcade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КОНЦЕПЦИЯ И СЮЖЕТ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5303520" cy="4023360"/>
          </a:xfrm>
          <a:prstGeom prst="rect">
            <a:avLst/>
          </a:prstGeom>
          <a:solidFill>
            <a:srgbClr val="1E1E40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История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Злой </a:t>
            </a: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Гирус Ржавый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захватил власть и высасывает из мира все краски, превращая его в холодный серый механический порядок.
</a:t>
            </a: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Принцесса Аква Люминара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хранительница Источника Вдохновения — заключена в Часовой Башне.
</a:t>
            </a: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 существ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получают видение и отправляются собирать </a:t>
            </a:r>
            <a:r>
              <a:rPr lang="en-US" sz="1200" b="1" dirty="0">
                <a:solidFill>
                  <a:srgbClr val="B56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Осколки Радуги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способные восстановить цвет мира.
</a:t>
            </a:r>
            <a:r>
              <a:rPr lang="en-US" sz="1200" b="1" dirty="0">
                <a:solidFill>
                  <a:srgbClr val="FF6F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 откровение: </a:t>
            </a:r>
            <a:r>
              <a:rPr lang="en-US" sz="12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Принцесса — дочь Гируса.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804672"/>
            <a:ext cx="1481328" cy="1828800"/>
          </a:xfrm>
          <a:prstGeom prst="rect">
            <a:avLst/>
          </a:prstGeom>
          <a:solidFill>
            <a:srgbClr val="252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060704"/>
            <a:ext cx="14813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760720" y="181051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Героев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24928" y="804672"/>
            <a:ext cx="1481328" cy="1828800"/>
          </a:xfrm>
          <a:prstGeom prst="rect">
            <a:avLst/>
          </a:prstGeom>
          <a:solidFill>
            <a:srgbClr val="25255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4928" y="1060704"/>
            <a:ext cx="14813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424928" y="181051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Жанров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2852928"/>
            <a:ext cx="1481328" cy="1828800"/>
          </a:xfrm>
          <a:prstGeom prst="rect">
            <a:avLst/>
          </a:prstGeom>
          <a:solidFill>
            <a:srgbClr val="25255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108960"/>
            <a:ext cx="14813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760720" y="385876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24928" y="2852928"/>
            <a:ext cx="1481328" cy="1828800"/>
          </a:xfrm>
          <a:prstGeom prst="rect">
            <a:avLst/>
          </a:prstGeom>
          <a:solidFill>
            <a:srgbClr val="25255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3108960"/>
            <a:ext cx="14813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4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424928" y="385876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ГЕРОЕВ — 8 ИГРОВЫХ ЖАНРОВ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" y="768096"/>
            <a:ext cx="2084832" cy="1938528"/>
          </a:xfrm>
          <a:prstGeom prst="rect">
            <a:avLst/>
          </a:prstGeom>
          <a:solidFill>
            <a:srgbClr val="1E1E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768096"/>
            <a:ext cx="2084832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" y="7680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" y="1078992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Бабл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" y="1481328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Мальчик в пузыре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1572768" cy="274320"/>
          </a:xfrm>
          <a:prstGeom prst="rect">
            <a:avLst/>
          </a:prstGeom>
          <a:solidFill>
            <a:srgbClr val="1212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677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Платформер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59152" y="768096"/>
            <a:ext cx="2084832" cy="1938528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768096"/>
            <a:ext cx="2084832" cy="274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7680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59152" y="1078992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Сэр Викс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59152" y="1481328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Свечной Рыцарь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15184" y="2267712"/>
            <a:ext cx="1572768" cy="274320"/>
          </a:xfrm>
          <a:prstGeom prst="rect">
            <a:avLst/>
          </a:prstGeom>
          <a:solidFill>
            <a:srgbClr val="12122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22677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 / тень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768096"/>
            <a:ext cx="2084832" cy="1938528"/>
          </a:xfrm>
          <a:prstGeom prst="rect">
            <a:avLst/>
          </a:prstGeom>
          <a:solidFill>
            <a:srgbClr val="1E1E40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768096"/>
            <a:ext cx="2084832" cy="27432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7680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III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08576" y="1078992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56D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Клякса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08576" y="1481328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Художник-бунтарь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64608" y="2267712"/>
            <a:ext cx="1572768" cy="274320"/>
          </a:xfrm>
          <a:prstGeom prst="rect">
            <a:avLst/>
          </a:prstGeom>
          <a:solidFill>
            <a:srgbClr val="12122A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2677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6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Шутер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768096"/>
            <a:ext cx="2084832" cy="1938528"/>
          </a:xfrm>
          <a:prstGeom prst="rect">
            <a:avLst/>
          </a:prstGeom>
          <a:solidFill>
            <a:srgbClr val="1E1E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768096"/>
            <a:ext cx="2084832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7680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1078992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Мелисса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58000" y="1481328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Королева-пчела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14032" y="2267712"/>
            <a:ext cx="1572768" cy="274320"/>
          </a:xfrm>
          <a:prstGeom prst="rect">
            <a:avLst/>
          </a:prstGeom>
          <a:solidFill>
            <a:srgbClr val="12122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22677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сверху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9728" y="2889504"/>
            <a:ext cx="2084832" cy="1938528"/>
          </a:xfrm>
          <a:prstGeom prst="rect">
            <a:avLst/>
          </a:prstGeom>
          <a:solidFill>
            <a:srgbClr val="1E1E40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" y="2889504"/>
            <a:ext cx="2084832" cy="274320"/>
          </a:xfrm>
          <a:prstGeom prst="rect">
            <a:avLst/>
          </a:prstGeom>
          <a:solidFill>
            <a:srgbClr val="C0C0FF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" y="288950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V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" y="3200400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C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Мастер Ког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09728" y="3602736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Инженер-предатель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389120"/>
            <a:ext cx="1572768" cy="274320"/>
          </a:xfrm>
          <a:prstGeom prst="rect">
            <a:avLst/>
          </a:prstGeom>
          <a:solidFill>
            <a:srgbClr val="12122A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3891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Головоломка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59152" y="2889504"/>
            <a:ext cx="2084832" cy="1938528"/>
          </a:xfrm>
          <a:prstGeom prst="rect">
            <a:avLst/>
          </a:prstGeom>
          <a:solidFill>
            <a:srgbClr val="1E1E40"/>
          </a:solidFill>
          <a:ln w="12700">
            <a:solidFill>
              <a:srgbClr val="EDED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59152" y="2889504"/>
            <a:ext cx="2084832" cy="274320"/>
          </a:xfrm>
          <a:prstGeom prst="rect">
            <a:avLst/>
          </a:prstGeom>
          <a:solidFill>
            <a:srgbClr val="EDEDFF"/>
          </a:solidFill>
          <a:ln w="12700">
            <a:solidFill>
              <a:srgbClr val="EDED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59152" y="288950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VI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359152" y="3200400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DE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Пушинка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2359152" y="3602736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Облачный зайчик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15184" y="4389120"/>
            <a:ext cx="1572768" cy="274320"/>
          </a:xfrm>
          <a:prstGeom prst="rect">
            <a:avLst/>
          </a:prstGeom>
          <a:solidFill>
            <a:srgbClr val="12122A"/>
          </a:solidFill>
          <a:ln w="12700">
            <a:solidFill>
              <a:srgbClr val="EDED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15184" y="43891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D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Платформер ↑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08576" y="2889504"/>
            <a:ext cx="2084832" cy="1938528"/>
          </a:xfrm>
          <a:prstGeom prst="rect">
            <a:avLst/>
          </a:prstGeom>
          <a:solidFill>
            <a:srgbClr val="1E1E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08576" y="2889504"/>
            <a:ext cx="2084832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08576" y="288950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VII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08576" y="3200400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Нектария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4608576" y="3602736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Пчела-разведчица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64608" y="4389120"/>
            <a:ext cx="1572768" cy="274320"/>
          </a:xfrm>
          <a:prstGeom prst="rect">
            <a:avLst/>
          </a:prstGeom>
          <a:solidFill>
            <a:srgbClr val="1212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43891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Коллектор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0" y="2889504"/>
            <a:ext cx="2084832" cy="1938528"/>
          </a:xfrm>
          <a:prstGeom prst="rect">
            <a:avLst/>
          </a:prstGeom>
          <a:solidFill>
            <a:srgbClr val="1E1E4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2889504"/>
            <a:ext cx="2084832" cy="2743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0" y="288950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VIII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58000" y="3200400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4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Шерри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6858000" y="3602736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Хомячиха-бегунья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114032" y="4389120"/>
            <a:ext cx="1572768" cy="274320"/>
          </a:xfrm>
          <a:prstGeom prst="rect">
            <a:avLst/>
          </a:prstGeom>
          <a:solidFill>
            <a:srgbClr val="12122A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14032" y="43891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Раннер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ГЛАВА I &amp; II — БАБЛ И СЭР ВИКС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4315968" cy="4114800"/>
          </a:xfrm>
          <a:prstGeom prst="rect">
            <a:avLst/>
          </a:prstGeom>
          <a:solidFill>
            <a:srgbClr val="1E1E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68096"/>
            <a:ext cx="4315968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68096"/>
            <a:ext cx="4315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ГЛ. I  •  Осколок: Голубой (Воздух)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" y="1133856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Бабл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" y="14904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Мальчик в мыльном пузыре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" y="1746504"/>
            <a:ext cx="4041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Ребёнок, не способный дышать серым воздухом Гируса. Мама-изобретательница создала защитный пузырь. Проходит три района Индустриального Города.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" y="281635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" y="3090672"/>
            <a:ext cx="4041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Лёгкая физика (низкая гравитация)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Пузырь лопается от шипов → собирай мыло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из вентиляторов сдувает героя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Частицы мыльной пены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68096"/>
            <a:ext cx="4315968" cy="41148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768096"/>
            <a:ext cx="4315968" cy="31089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768096"/>
            <a:ext cx="4315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ГЛ. II  •  Осколок: Оранжевый (Огонь)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133856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Сэр Викс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14904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Свечной Рыцарь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746504"/>
            <a:ext cx="4041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рыцарь Ордена Вечного Пламени. Спускается в Подземелье Тени (3 уровня), где Гирус прячет украденный солнечный свет.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81635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090672"/>
            <a:ext cx="4041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Свеча освещает область (спрайт-круг света)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задувает пламя → Game Over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Собирай масло для восстановления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Анимация мерцающего пламени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ГЛАВА III &amp; IV — КЛЯКСА И МЕЛИССА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4315968" cy="4114800"/>
          </a:xfrm>
          <a:prstGeom prst="rect">
            <a:avLst/>
          </a:prstGeom>
          <a:solidFill>
            <a:srgbClr val="1E1E40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68096"/>
            <a:ext cx="4315968" cy="310896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68096"/>
            <a:ext cx="4315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ГЛ. III  •  Осколок: Фиолетовый (Творчество)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" y="1133856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6D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Клякса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" y="14904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Художник-бунтарь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" y="1746504"/>
            <a:ext cx="4041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Уличный художник, тайно расписывающий серые стены. Штурмует три Галереи (бывшие музеи), возвращая цвет картинам и оживляя их.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" y="281635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" y="3090672"/>
            <a:ext cx="4041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Шутер: стреляет чернилами по врагам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Враги при попадании взрываются кляксами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Окраска мира открывает скрытые платформы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следует по большим галереям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68096"/>
            <a:ext cx="4315968" cy="41148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768096"/>
            <a:ext cx="4315968" cy="31089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768096"/>
            <a:ext cx="4315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ГЛ. IV  •  Осколок: Жёлтый (Жизнь)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133856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Мелисса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14904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Королева-пчела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746504"/>
            <a:ext cx="4041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Королева последнего свободного улья. Три цветочных поля атакуют механические осы, распыляя серый смог.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81635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090672"/>
            <a:ext cx="4041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сверху, PhysicsEngineSimple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Стреляет жалами по врагам-осам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нектара с ограниченной вместимостью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Частицы пыльцы + анимация крыльев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ГЛАВА V &amp; VI — МАСТЕР КОГ И ПУШИНКА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4315968" cy="4114800"/>
          </a:xfrm>
          <a:prstGeom prst="rect">
            <a:avLst/>
          </a:prstGeom>
          <a:solidFill>
            <a:srgbClr val="1E1E40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68096"/>
            <a:ext cx="4315968" cy="310896"/>
          </a:xfrm>
          <a:prstGeom prst="rect">
            <a:avLst/>
          </a:prstGeom>
          <a:solidFill>
            <a:srgbClr val="C0C0FF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68096"/>
            <a:ext cx="4315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ГЛ. V  •  Осколок: Серебряный (Порядок)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" y="1133856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C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Мастер Ког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" y="14904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Инженер-предатель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" y="1746504"/>
            <a:ext cx="4041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Бывший главный инженер Гируса. Дезертировал, когда узнал о планах превратить детей в механизмы. Саботирует три Цитадели.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" y="281635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" y="3090672"/>
            <a:ext cx="4041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Головоломка: расставь шестерёнки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Перетаскивание мышью + коллизии сцепления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Частицы искр при поломке механизмов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Анимация вращения + звук тиканья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68096"/>
            <a:ext cx="4315968" cy="4114800"/>
          </a:xfrm>
          <a:prstGeom prst="rect">
            <a:avLst/>
          </a:prstGeom>
          <a:solidFill>
            <a:srgbClr val="1E1E40"/>
          </a:solidFill>
          <a:ln w="12700">
            <a:solidFill>
              <a:srgbClr val="EDE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768096"/>
            <a:ext cx="4315968" cy="310896"/>
          </a:xfrm>
          <a:prstGeom prst="rect">
            <a:avLst/>
          </a:prstGeom>
          <a:solidFill>
            <a:srgbClr val="EDEDFF"/>
          </a:solidFill>
          <a:ln w="12700">
            <a:solidFill>
              <a:srgbClr val="EDE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768096"/>
            <a:ext cx="4315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ГЛ. VI  •  Осколок: Белый (Надежда)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133856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Пушинка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14904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Облачный зайчик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746504"/>
            <a:ext cx="4041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Зайчонок из Небесного Луга. Прыгает по трём ярусам неба (низкие → кучевые → грозовые), собирая морковь-память.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81635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090672"/>
            <a:ext cx="4041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Платформер: облака-платформы движутся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Двойной прыжок с частицами радуги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движется вверх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Морковки = чекпоинты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ГЛАВА VII &amp; VIII — НЕКТАРИЯ И ШЕРРИ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4315968" cy="4114800"/>
          </a:xfrm>
          <a:prstGeom prst="rect">
            <a:avLst/>
          </a:prstGeom>
          <a:solidFill>
            <a:srgbClr val="1E1E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68096"/>
            <a:ext cx="4315968" cy="31089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68096"/>
            <a:ext cx="4315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ГЛ. VII  •  Осколок: Зелёный (Рост)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" y="1133856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Нектария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" y="14904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Пчела-разведчица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" y="1746504"/>
            <a:ext cx="4041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Младшая сестра Мелиссы. Находит три Тайных Луга (берёза, подсолнух, лаванда), собирает нектар для восстановления природы.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" y="281635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" y="3090672"/>
            <a:ext cx="4041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сверху, огромная карта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нектара с возвратом в улей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Ограниченная вместимость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Частицы пыльцы + камера следует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68096"/>
            <a:ext cx="4315968" cy="41148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768096"/>
            <a:ext cx="4315968" cy="31089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768096"/>
            <a:ext cx="4315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ГЛ. VIII  •  Осколок: Красный (Свобода)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133856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Шерри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14904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Хомячиха-бегунья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746504"/>
            <a:ext cx="4041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Лабораторный хомячок, освобождённый Баблом. Бежит через три секции Лаборатории, саботируя системы изнутри.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81635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090672"/>
            <a:ext cx="4041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Раннер: фон прокручивается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Препятствия: пробирки, провода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Нарастающая скорость по уровням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Частицы опилок + звук скрипа колеса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ФИНАЛЬНАЯ ГЛАВА — СИМФОНИЯ ЦВЕТА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804672"/>
            <a:ext cx="1609344" cy="2103120"/>
          </a:xfrm>
          <a:prstGeom prst="rect">
            <a:avLst/>
          </a:prstGeom>
          <a:solidFill>
            <a:srgbClr val="1E1E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87782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877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" y="142646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Платформер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" y="1773936"/>
            <a:ext cx="16093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Викс + Бабл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Подъём по башне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38528" y="804672"/>
            <a:ext cx="1609344" cy="2103120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877824"/>
            <a:ext cx="457200" cy="45720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877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38528" y="142646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Шутер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38528" y="1773936"/>
            <a:ext cx="16093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Клякса + Мелисса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Отбитие стражей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12464" y="804672"/>
            <a:ext cx="1609344" cy="2103120"/>
          </a:xfrm>
          <a:prstGeom prst="rect">
            <a:avLst/>
          </a:prstGeom>
          <a:solidFill>
            <a:srgbClr val="1E1E40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8536" y="877824"/>
            <a:ext cx="457200" cy="457200"/>
          </a:xfrm>
          <a:prstGeom prst="ellipse">
            <a:avLst/>
          </a:prstGeom>
          <a:solidFill>
            <a:srgbClr val="C0C0FF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877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12464" y="142646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C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Головоломка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12464" y="1773936"/>
            <a:ext cx="16093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Взлом механизма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804672"/>
            <a:ext cx="1609344" cy="2103120"/>
          </a:xfrm>
          <a:prstGeom prst="rect">
            <a:avLst/>
          </a:prstGeom>
          <a:solidFill>
            <a:srgbClr val="1E1E4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62472" y="877824"/>
            <a:ext cx="457200" cy="45720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62472" y="877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142646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Раннер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1773936"/>
            <a:ext cx="16093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Шерри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Побег из башни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60336" y="804672"/>
            <a:ext cx="1609344" cy="2103120"/>
          </a:xfrm>
          <a:prstGeom prst="rect">
            <a:avLst/>
          </a:prstGeom>
          <a:solidFill>
            <a:srgbClr val="1E1E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36408" y="877824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36408" y="877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60336" y="142646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Финал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60336" y="1773936"/>
            <a:ext cx="16093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Пушинка + Нект.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Освобождение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4592" y="3090672"/>
            <a:ext cx="8814816" cy="1719072"/>
          </a:xfrm>
          <a:prstGeom prst="rect">
            <a:avLst/>
          </a:prstGeom>
          <a:solidFill>
            <a:srgbClr val="1E1E4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" y="3090672"/>
            <a:ext cx="8814816" cy="31089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" y="3090672"/>
            <a:ext cx="8814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БОСС: ГИРУС РЖАВЫЙ — переключение между всеми 8 героями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351129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Бабл уклоняется от лучей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96896" y="351129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Викс освещает слабые места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51129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Клякса раскрашивает их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59168" y="351129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Мелисса/Нект. атакуют жалами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38587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Ког отключает шестерёнки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96896" y="38587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Пушинка создаёт платформы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28032" y="38587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Шерри отвлекает вращением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СВЯЗАНЫ ГЕРОИ — СЮЖЕТНЫЕ СВЯЗИ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389120" cy="914400"/>
          </a:xfrm>
          <a:prstGeom prst="rect">
            <a:avLst/>
          </a:prstGeom>
          <a:solidFill>
            <a:srgbClr val="1E1E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22960"/>
            <a:ext cx="7315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7782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Бабл  →  Шерри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Бабл освобождает Шерри из клетки в финале Гл. 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389120" cy="9144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22960"/>
            <a:ext cx="73152" cy="9144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7782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Викс  →  Клякса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22529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Клякса рисует Виксу карту к следующему осколку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901952"/>
            <a:ext cx="4389120" cy="914400"/>
          </a:xfrm>
          <a:prstGeom prst="rect">
            <a:avLst/>
          </a:prstGeom>
          <a:solidFill>
            <a:srgbClr val="1E1E40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901952"/>
            <a:ext cx="73152" cy="9144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5681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6D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Клякса  →  Мелисса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30428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Клякса рисует послание о местонахождении осколка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901952"/>
            <a:ext cx="4389120" cy="914400"/>
          </a:xfrm>
          <a:prstGeom prst="rect">
            <a:avLst/>
          </a:prstGeom>
          <a:solidFill>
            <a:srgbClr val="1E1E40"/>
          </a:solidFill>
          <a:ln w="12700">
            <a:solidFill>
              <a:srgbClr val="EDED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01952"/>
            <a:ext cx="73152" cy="914400"/>
          </a:xfrm>
          <a:prstGeom prst="rect">
            <a:avLst/>
          </a:prstGeom>
          <a:solidFill>
            <a:srgbClr val="EDEDFF"/>
          </a:solidFill>
          <a:ln w="12700">
            <a:solidFill>
              <a:srgbClr val="EDE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95681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E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Пушинка  →  Мелисса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30428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Пушинка спасает улей, создав облачный мост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980944"/>
            <a:ext cx="4389120" cy="914400"/>
          </a:xfrm>
          <a:prstGeom prst="rect">
            <a:avLst/>
          </a:prstGeom>
          <a:solidFill>
            <a:srgbClr val="1E1E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980944"/>
            <a:ext cx="73152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3580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Пушинка  →  Нектария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Громовая Птица сбрасывает семена для полей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980944"/>
            <a:ext cx="4389120" cy="914400"/>
          </a:xfrm>
          <a:prstGeom prst="rect">
            <a:avLst/>
          </a:prstGeom>
          <a:solidFill>
            <a:srgbClr val="1E1E40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980944"/>
            <a:ext cx="73152" cy="914400"/>
          </a:xfrm>
          <a:prstGeom prst="rect">
            <a:avLst/>
          </a:prstGeom>
          <a:solidFill>
            <a:srgbClr val="C0C0FF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03580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C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Kog  →  Шерри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38328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 забирает Шерри и показывает путь к башне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4059936"/>
            <a:ext cx="4389120" cy="9144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4059936"/>
            <a:ext cx="73152" cy="9144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148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Викс  →  Нектария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4622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Викс защищает тайное поле Нектарии от теней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059936"/>
            <a:ext cx="4389120" cy="9144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4059936"/>
            <a:ext cx="73152" cy="9144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1148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Шерри  →  Все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44622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 протокол самоуничтожения лаборатории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АКТУАЛЬНОСТЬ — ТЕМЫ ИГРЫ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822960"/>
            <a:ext cx="2084832" cy="1828800"/>
          </a:xfrm>
          <a:prstGeom prst="rect">
            <a:avLst/>
          </a:prstGeom>
          <a:solidFill>
            <a:srgbClr val="1E1E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822960"/>
            <a:ext cx="20848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82296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13385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Ментальное здоровье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157276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Бабл — метафора тревожности и защитного пузыря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822960"/>
            <a:ext cx="2084832" cy="18288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822960"/>
            <a:ext cx="2084832" cy="2560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82296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🕯️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113385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Выгорание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157276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Викс — последний носитель света, поиск смысла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822960"/>
            <a:ext cx="2084832" cy="1828800"/>
          </a:xfrm>
          <a:prstGeom prst="rect">
            <a:avLst/>
          </a:prstGeom>
          <a:solidFill>
            <a:srgbClr val="1E1E40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822960"/>
            <a:ext cx="2084832" cy="256032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82296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13385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6D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Свобода творчества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57276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Клякса — искусство под запретом, цензура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822960"/>
            <a:ext cx="2084832" cy="18288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822960"/>
            <a:ext cx="2084832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82296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113385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Экологический кризис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157276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Мелисса, Нектария — метафора вымирания пчёл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" y="2834640"/>
            <a:ext cx="2084832" cy="1828800"/>
          </a:xfrm>
          <a:prstGeom prst="rect">
            <a:avLst/>
          </a:prstGeom>
          <a:solidFill>
            <a:srgbClr val="1E1E40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" y="2834640"/>
            <a:ext cx="2084832" cy="256032"/>
          </a:xfrm>
          <a:prstGeom prst="rect">
            <a:avLst/>
          </a:prstGeom>
          <a:solidFill>
            <a:srgbClr val="C0C0FF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" y="283464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" y="314553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C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Этика технологий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" y="358444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 — ответственность создателя за изобретения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77440" y="2834640"/>
            <a:ext cx="2084832" cy="1828800"/>
          </a:xfrm>
          <a:prstGeom prst="rect">
            <a:avLst/>
          </a:prstGeom>
          <a:solidFill>
            <a:srgbClr val="1E1E40"/>
          </a:solidFill>
          <a:ln w="12700">
            <a:solidFill>
              <a:srgbClr val="EDED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2834640"/>
            <a:ext cx="2084832" cy="256032"/>
          </a:xfrm>
          <a:prstGeom prst="rect">
            <a:avLst/>
          </a:prstGeom>
          <a:solidFill>
            <a:srgbClr val="EDEDFF"/>
          </a:solidFill>
          <a:ln w="12700">
            <a:solidFill>
              <a:srgbClr val="EDE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283464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468880" y="314553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E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Надежда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358444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Пушинка — символ оптимизма в трудные времена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834640"/>
            <a:ext cx="2084832" cy="18288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834640"/>
            <a:ext cx="2084832" cy="25603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83464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🐹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09160" y="314553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Права животных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09160" y="358444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Шерри — метафора лабораторных испытаний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2834640"/>
            <a:ext cx="2084832" cy="18288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2834640"/>
            <a:ext cx="2084832" cy="256032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283464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49440" y="314553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F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Прощение и исцеление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49440" y="358444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Гирус и Принцесса — история разорванной семьи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ПРИМЕНЁННЫЕ ТЕХНОЛОГИИ (ARCADE FRAMEWORK)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97680" cy="877824"/>
          </a:xfrm>
          <a:prstGeom prst="rect">
            <a:avLst/>
          </a:prstGeom>
          <a:solidFill>
            <a:srgbClr val="1E1E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22960"/>
            <a:ext cx="73152" cy="8778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7782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Стартовое / финальное окно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arcade.View — меню, Game Over, победа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97680" cy="877824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822960"/>
            <a:ext cx="73152" cy="87782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87782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Спрайты и анимация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12618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arcade.Sprite + update_animation(), walk_textures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847088"/>
            <a:ext cx="4297680" cy="877824"/>
          </a:xfrm>
          <a:prstGeom prst="rect">
            <a:avLst/>
          </a:prstGeom>
          <a:solidFill>
            <a:srgbClr val="1E1E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847088"/>
            <a:ext cx="73152" cy="87782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0195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Коллизии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" y="22860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check_for_collision_with_list() для атак и подбора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847088"/>
            <a:ext cx="4297680" cy="877824"/>
          </a:xfrm>
          <a:prstGeom prst="rect">
            <a:avLst/>
          </a:prstGeom>
          <a:solidFill>
            <a:srgbClr val="1E1E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847088"/>
            <a:ext cx="73152" cy="87782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90195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Физический движок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22860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PhysicsEnginePlatformer + PhysicsEngineSimple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871216"/>
            <a:ext cx="4297680" cy="877824"/>
          </a:xfrm>
          <a:prstGeom prst="rect">
            <a:avLst/>
          </a:prstGeom>
          <a:solidFill>
            <a:srgbClr val="1E1E40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871216"/>
            <a:ext cx="73152" cy="877824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2608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6D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Камера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3101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arcade.camera.Camera2D(), lerp_2d(), dead zone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871216"/>
            <a:ext cx="4297680" cy="877824"/>
          </a:xfrm>
          <a:prstGeom prst="rect">
            <a:avLst/>
          </a:prstGeom>
          <a:solidFill>
            <a:srgbClr val="1E1E40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871216"/>
            <a:ext cx="73152" cy="877824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92608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Система частиц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33101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Emitter, EmitBurst, FadeParticle, mutation_callback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895344"/>
            <a:ext cx="4297680" cy="877824"/>
          </a:xfrm>
          <a:prstGeom prst="rect">
            <a:avLst/>
          </a:prstGeom>
          <a:solidFill>
            <a:srgbClr val="1E1E4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3895344"/>
            <a:ext cx="73152" cy="877824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9502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Звук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" y="43342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arcade.load_sound() + arcade.play_sound()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895344"/>
            <a:ext cx="4297680" cy="877824"/>
          </a:xfrm>
          <a:prstGeom prst="rect">
            <a:avLst/>
          </a:prstGeom>
          <a:solidFill>
            <a:srgbClr val="1E1E40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895344"/>
            <a:ext cx="73152" cy="877824"/>
          </a:xfrm>
          <a:prstGeom prst="rect">
            <a:avLst/>
          </a:prstGeom>
          <a:solidFill>
            <a:srgbClr val="C0C0FF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9502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C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Хранение данных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3342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для уровней, txt для прогресса, БД (дистанция)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КОДА — УРОКИ ARCADE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" y="768096"/>
            <a:ext cx="2084832" cy="1975104"/>
          </a:xfrm>
          <a:prstGeom prst="rect">
            <a:avLst/>
          </a:prstGeom>
          <a:solidFill>
            <a:srgbClr val="1E1E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768096"/>
            <a:ext cx="2084832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" y="7680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" y="107899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Рисуем мир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1444752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arcade.Window, on_draw(), on_update()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Примитивы, ShapeElementList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delta_time для FPS-независимости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59152" y="768096"/>
            <a:ext cx="2084832" cy="1975104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9152" y="768096"/>
            <a:ext cx="2084832" cy="274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7680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59152" y="107899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Интерактивность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50592" y="1444752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on_key_press/release, множество клавиш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on_mouse_press, drag, scroll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arcade.schedule() для таймеров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768096"/>
            <a:ext cx="2084832" cy="1975104"/>
          </a:xfrm>
          <a:prstGeom prst="rect">
            <a:avLst/>
          </a:prstGeom>
          <a:solidFill>
            <a:srgbClr val="1E1E40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768096"/>
            <a:ext cx="2084832" cy="27432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7680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08576" y="107899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6D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Спрайты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0016" y="1444752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arcade.Sprite, SpriteList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текстур, анимация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Bullet с math.atan2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0" y="768096"/>
            <a:ext cx="2084832" cy="1975104"/>
          </a:xfrm>
          <a:prstGeom prst="rect">
            <a:avLst/>
          </a:prstGeom>
          <a:solidFill>
            <a:srgbClr val="1E1E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768096"/>
            <a:ext cx="2084832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7680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107899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Коллизии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1444752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check_for_collision_with_list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PhysicsEngineSimple (вид сверху)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Пространственное хеширование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9728" y="2871216"/>
            <a:ext cx="2084832" cy="1975104"/>
          </a:xfrm>
          <a:prstGeom prst="rect">
            <a:avLst/>
          </a:prstGeom>
          <a:solidFill>
            <a:srgbClr val="1E1E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" y="2871216"/>
            <a:ext cx="2084832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" y="287121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" y="318211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Сцены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01168" y="3547872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arcade.View для экранов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Переключение show_view()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2D-массив для головоломок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59152" y="2871216"/>
            <a:ext cx="2084832" cy="1975104"/>
          </a:xfrm>
          <a:prstGeom prst="rect">
            <a:avLst/>
          </a:prstGeom>
          <a:solidFill>
            <a:srgbClr val="1E1E40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9152" y="2871216"/>
            <a:ext cx="2084832" cy="27432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287121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59152" y="318211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F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450592" y="3547872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+ .tmx файлы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Camera2D, lerp_2d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Слои: стены, декор, объекты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08576" y="2871216"/>
            <a:ext cx="2084832" cy="1975104"/>
          </a:xfrm>
          <a:prstGeom prst="rect">
            <a:avLst/>
          </a:prstGeom>
          <a:solidFill>
            <a:srgbClr val="1E1E4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8576" y="2871216"/>
            <a:ext cx="2084832" cy="2743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287121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08576" y="318211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Платформер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00016" y="3547872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PhysicsEnginePlatformer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Coyote Time, Jump Buffer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Движущиеся платформы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58000" y="2871216"/>
            <a:ext cx="2084832" cy="1975104"/>
          </a:xfrm>
          <a:prstGeom prst="rect">
            <a:avLst/>
          </a:prstGeom>
          <a:solidFill>
            <a:srgbClr val="1E1E40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2871216"/>
            <a:ext cx="2084832" cy="274320"/>
          </a:xfrm>
          <a:prstGeom prst="rect">
            <a:avLst/>
          </a:prstGeom>
          <a:solidFill>
            <a:srgbClr val="C0C0FF"/>
          </a:solidFill>
          <a:ln w="12700">
            <a:solidFill>
              <a:srgbClr val="C0C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287121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318211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C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 + Частицы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49440" y="3547872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arcade.gui — кнопки, слайдеры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Emitter, EmitBurst, EmitInterval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FadeParticle + mutation_callback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ТРЕБОВАНИЯ К КАЧЕСТВУ КОДА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743200" cy="1901952"/>
          </a:xfrm>
          <a:prstGeom prst="rect">
            <a:avLst/>
          </a:prstGeom>
          <a:solidFill>
            <a:srgbClr val="1E1E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950976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9509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6824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 строк кода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06654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кода соответствует требованиям учебного модуля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27248" y="822960"/>
            <a:ext cx="2743200" cy="1901952"/>
          </a:xfrm>
          <a:prstGeom prst="rect">
            <a:avLst/>
          </a:prstGeom>
          <a:solidFill>
            <a:srgbClr val="1E1E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78808" y="950976"/>
            <a:ext cx="640080" cy="6400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8808" y="9509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18688" y="16824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 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18688" y="206654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Соблюдение стандарта оформления Python-кода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822960"/>
            <a:ext cx="2743200" cy="1901952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950976"/>
            <a:ext cx="640080" cy="6400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3176" y="9509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63056" y="16824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Классы и модули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63056" y="206654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ООП: наследование, инкапсуляция, модульная структура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889504"/>
            <a:ext cx="2743200" cy="1901952"/>
          </a:xfrm>
          <a:prstGeom prst="rect">
            <a:avLst/>
          </a:prstGeom>
          <a:solidFill>
            <a:srgbClr val="1E1E40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3017520"/>
            <a:ext cx="640080" cy="640080"/>
          </a:xfrm>
          <a:prstGeom prst="ellipse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6D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Константы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41330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Именованные константы вместо "магических чисел"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27248" y="2889504"/>
            <a:ext cx="2743200" cy="1901952"/>
          </a:xfrm>
          <a:prstGeom prst="rect">
            <a:avLst/>
          </a:prstGeom>
          <a:solidFill>
            <a:srgbClr val="1E1E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78808" y="3017520"/>
            <a:ext cx="640080" cy="6400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78808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18688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Говорящие имена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18688" y="41330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player_sprite, wall_list, physics_engine и т.д.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71616" y="2889504"/>
            <a:ext cx="2743200" cy="1901952"/>
          </a:xfrm>
          <a:prstGeom prst="rect">
            <a:avLst/>
          </a:prstGeom>
          <a:solidFill>
            <a:srgbClr val="1E1E40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23176" y="3017520"/>
            <a:ext cx="640080" cy="640080"/>
          </a:xfrm>
          <a:prstGeom prst="ellipse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23176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63056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F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63056" y="41330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зависимостями проекта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 РЕАЛИЗАЦИИ — ЭТАПЫ ПРОЕКТА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578608"/>
            <a:ext cx="8229600" cy="73152"/>
          </a:xfrm>
          <a:prstGeom prst="rect">
            <a:avLst/>
          </a:prstGeom>
          <a:solidFill>
            <a:srgbClr val="252550"/>
          </a:solidFill>
          <a:ln w="12700">
            <a:solidFill>
              <a:srgbClr val="252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2395728"/>
            <a:ext cx="438912" cy="43891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395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868680"/>
            <a:ext cx="1115568" cy="13716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868680"/>
            <a:ext cx="1115568" cy="25603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6868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161288"/>
            <a:ext cx="1005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проекта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892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10.01.2026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2240280"/>
            <a:ext cx="54864" cy="12801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56816" y="2395728"/>
            <a:ext cx="438912" cy="43891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56816" y="2395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3163824"/>
            <a:ext cx="1115568" cy="13716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63824"/>
            <a:ext cx="1115568" cy="2560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316382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00784" y="3456432"/>
            <a:ext cx="1005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(ТЗ)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00784" y="4187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15.01.2026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76272" y="2834640"/>
            <a:ext cx="54864" cy="32918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2395728"/>
            <a:ext cx="438912" cy="43891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2395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07792" y="868680"/>
            <a:ext cx="1115568" cy="1371600"/>
          </a:xfrm>
          <a:prstGeom prst="rect">
            <a:avLst/>
          </a:prstGeom>
          <a:solidFill>
            <a:srgbClr val="1E1E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07792" y="868680"/>
            <a:ext cx="1115568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86868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62656" y="1161288"/>
            <a:ext cx="1005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ТЗ + Часть задания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62656" y="1892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24.01.2026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38144" y="2240280"/>
            <a:ext cx="54864" cy="12801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2395728"/>
            <a:ext cx="438912" cy="43891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395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69664" y="3163824"/>
            <a:ext cx="1115568" cy="1371600"/>
          </a:xfrm>
          <a:prstGeom prst="rect">
            <a:avLst/>
          </a:prstGeom>
          <a:solidFill>
            <a:srgbClr val="1E1E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69664" y="3163824"/>
            <a:ext cx="1115568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9664" y="316382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24528" y="3456432"/>
            <a:ext cx="1005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+ Работающая часть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24528" y="4187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01.02.2026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0016" y="2834640"/>
            <a:ext cx="54864" cy="3291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42432" y="239572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2432" y="2395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31536" y="868680"/>
            <a:ext cx="1115568" cy="1371600"/>
          </a:xfrm>
          <a:prstGeom prst="rect">
            <a:avLst/>
          </a:prstGeom>
          <a:solidFill>
            <a:srgbClr val="1E1E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31536" y="868680"/>
            <a:ext cx="111556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31536" y="86868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1161288"/>
            <a:ext cx="1005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+ Черновик записки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86400" y="1892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09.02.2026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61888" y="2240280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04304" y="2395728"/>
            <a:ext cx="438912" cy="43891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04304" y="2395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693408" y="3163824"/>
            <a:ext cx="1115568" cy="1371600"/>
          </a:xfrm>
          <a:prstGeom prst="rect">
            <a:avLst/>
          </a:prstGeom>
          <a:solidFill>
            <a:srgbClr val="1E1E40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93408" y="3163824"/>
            <a:ext cx="1115568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93408" y="316382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48272" y="3456432"/>
            <a:ext cx="1005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Записка + Презентация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748272" y="4187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16.02.2026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23760" y="2834640"/>
            <a:ext cx="54864" cy="329184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6176" y="2395728"/>
            <a:ext cx="438912" cy="438912"/>
          </a:xfrm>
          <a:prstGeom prst="ellipse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66176" y="2395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955280" y="868680"/>
            <a:ext cx="1115568" cy="1371600"/>
          </a:xfrm>
          <a:prstGeom prst="rect">
            <a:avLst/>
          </a:prstGeom>
          <a:solidFill>
            <a:srgbClr val="1E1E40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55280" y="868680"/>
            <a:ext cx="1115568" cy="256032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55280" y="86868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10144" y="1161288"/>
            <a:ext cx="1005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готово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010144" y="1892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6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24.02.2026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485632" y="2240280"/>
            <a:ext cx="54864" cy="128016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УНИКАЛЬНОСТЬ ПРОЕКТА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97680" cy="1243584"/>
          </a:xfrm>
          <a:prstGeom prst="rect">
            <a:avLst/>
          </a:prstGeom>
          <a:solidFill>
            <a:srgbClr val="1E1E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22960"/>
            <a:ext cx="73152" cy="12435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жанров в одной игре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Платформер, шутер, раннер, головоломка, коллектор — в единой истории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297680" cy="1243584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22960"/>
            <a:ext cx="73152" cy="124358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Нелинейное повествование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16736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Истории героев переплетаются через кат-сцены между уровнями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212848"/>
            <a:ext cx="4297680" cy="1243584"/>
          </a:xfrm>
          <a:prstGeom prst="rect">
            <a:avLst/>
          </a:prstGeom>
          <a:solidFill>
            <a:srgbClr val="1E1E40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212848"/>
            <a:ext cx="73152" cy="1243584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042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6D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Эмоциональная глубина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706624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герой — метафора реальной социальной темы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212848"/>
            <a:ext cx="4297680" cy="1243584"/>
          </a:xfrm>
          <a:prstGeom prst="rect">
            <a:avLst/>
          </a:prstGeom>
          <a:solidFill>
            <a:srgbClr val="1E1E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212848"/>
            <a:ext cx="73152" cy="12435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042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Визуальная метафора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06624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буквально окрашивается по мере прогресса игрока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602736"/>
            <a:ext cx="4297680" cy="1243584"/>
          </a:xfrm>
          <a:prstGeom prst="rect">
            <a:avLst/>
          </a:prstGeom>
          <a:solidFill>
            <a:srgbClr val="1E1E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602736"/>
            <a:ext cx="73152" cy="12435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941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Replay-ценность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096512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«Endless Rainbow» — играй любым героем на любом уровне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02736"/>
            <a:ext cx="4297680" cy="1243584"/>
          </a:xfrm>
          <a:prstGeom prst="rect">
            <a:avLst/>
          </a:prstGeom>
          <a:solidFill>
            <a:srgbClr val="1E1E40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602736"/>
            <a:ext cx="73152" cy="1243584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941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F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Инклюзивность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096512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Герои разных видов с особенностями, отражающими разный опыт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" cy="1097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43000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43000" cy="1097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43000" cy="1097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43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43000" cy="10972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43000" cy="109728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43000" cy="109728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«Мир не должен быть серым или слишком ярким.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0241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Он прекрасен в </a:t>
            </a:r>
            <a:r>
              <a:rPr lang="en-US" sz="2200" i="1" dirty="0" err="1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балансе</a:t>
            </a:r>
            <a:r>
              <a:rPr lang="en-US" sz="22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371600" y="1737360"/>
            <a:ext cx="6400800" cy="54864"/>
          </a:xfrm>
          <a:prstGeom prst="rect">
            <a:avLst/>
          </a:prstGeom>
          <a:solidFill>
            <a:srgbClr val="252550"/>
          </a:solidFill>
          <a:ln w="12700">
            <a:solidFill>
              <a:srgbClr val="252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5681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Chromatic Heroes: The Canvas Awakening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souls. One rainbow. A world reborn.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05840" y="3035808"/>
            <a:ext cx="1554480" cy="1463040"/>
          </a:xfrm>
          <a:prstGeom prst="rect">
            <a:avLst/>
          </a:prstGeom>
          <a:solidFill>
            <a:srgbClr val="1E1E4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12724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4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005840" y="38039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Героев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3035808"/>
            <a:ext cx="1554480" cy="1463040"/>
          </a:xfrm>
          <a:prstGeom prst="rect">
            <a:avLst/>
          </a:prstGeom>
          <a:solidFill>
            <a:srgbClr val="1E1E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12724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834640" y="38039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Уровней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035808"/>
            <a:ext cx="1554480" cy="1463040"/>
          </a:xfrm>
          <a:prstGeom prst="rect">
            <a:avLst/>
          </a:prstGeom>
          <a:solidFill>
            <a:srgbClr val="1E1E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12724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663440" y="38039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кода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3035808"/>
            <a:ext cx="1554480" cy="1463040"/>
          </a:xfrm>
          <a:prstGeom prst="rect">
            <a:avLst/>
          </a:prstGeom>
          <a:solidFill>
            <a:srgbClr val="1E1E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12724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492240" y="38039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Жанров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5029200"/>
            <a:ext cx="1143000" cy="1143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5029200"/>
            <a:ext cx="1143000" cy="1143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5029200"/>
            <a:ext cx="1143000" cy="1143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0" y="5029200"/>
            <a:ext cx="1143000" cy="1143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5029200"/>
            <a:ext cx="1143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15000" y="5029200"/>
            <a:ext cx="1143000" cy="1143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5029200"/>
            <a:ext cx="1143000" cy="114300"/>
          </a:xfrm>
          <a:prstGeom prst="rect">
            <a:avLst/>
          </a:prstGeom>
          <a:solidFill>
            <a:srgbClr val="B56DEE"/>
          </a:solidFill>
          <a:ln w="12700">
            <a:solidFill>
              <a:srgbClr val="B56D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5029200"/>
            <a:ext cx="1143000" cy="114300"/>
          </a:xfrm>
          <a:prstGeom prst="rect">
            <a:avLst/>
          </a:prstGeom>
          <a:solidFill>
            <a:srgbClr val="FF6FB7"/>
          </a:solidFill>
          <a:ln w="12700">
            <a:solidFill>
              <a:srgbClr val="FF6FB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1391</Words>
  <Application>Microsoft Office PowerPoint</Application>
  <PresentationFormat>Экран (16:9)</PresentationFormat>
  <Paragraphs>343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Chromatic Heroes: The Canvas Awakening</dc:title>
  <dc:subject>PptxGenJS Presentation</dc:subject>
  <dc:creator>PptxGenJS</dc:creator>
  <cp:lastModifiedBy>Windows 11</cp:lastModifiedBy>
  <cp:revision>2</cp:revision>
  <dcterms:created xsi:type="dcterms:W3CDTF">2026-03-13T20:11:08Z</dcterms:created>
  <dcterms:modified xsi:type="dcterms:W3CDTF">2026-03-13T20:25:59Z</dcterms:modified>
</cp:coreProperties>
</file>